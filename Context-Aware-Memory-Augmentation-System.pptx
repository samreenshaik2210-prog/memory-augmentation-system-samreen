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slideLayout" Target="../slideLayouts/slideLayout10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47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Context-Aware Memory Augmentation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624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that recalls information when it matters most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80478"/>
            <a:ext cx="2010847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4848463"/>
            <a:ext cx="17386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YEAR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17984" y="4780478"/>
            <a:ext cx="1358503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8" name="Text 5"/>
          <p:cNvSpPr/>
          <p:nvPr/>
        </p:nvSpPr>
        <p:spPr>
          <a:xfrm>
            <a:off x="3054072" y="4848463"/>
            <a:ext cx="10863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3790" y="54618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"Remembering at the right moment."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3160" y="754737"/>
            <a:ext cx="7650480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Problem: Lost Knowledge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3160" y="2408515"/>
            <a:ext cx="3718560" cy="2306479"/>
          </a:xfrm>
          <a:prstGeom prst="roundRect">
            <a:avLst>
              <a:gd name="adj" fmla="val 634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408515"/>
            <a:ext cx="121920" cy="23064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68440" y="2652355"/>
            <a:ext cx="31394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Human Forgetting Curve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568440" y="3447098"/>
            <a:ext cx="313944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Valuable information fades over time, even if recorded.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10165080" y="2408515"/>
            <a:ext cx="3718560" cy="2306479"/>
          </a:xfrm>
          <a:prstGeom prst="roundRect">
            <a:avLst>
              <a:gd name="adj" fmla="val 634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2408515"/>
            <a:ext cx="121920" cy="23064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00360" y="2652355"/>
            <a:ext cx="31394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Passive Information Storage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500360" y="3447098"/>
            <a:ext cx="31394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 and reminders require manual retrieval; they don't prompt us.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233160" y="4928354"/>
            <a:ext cx="3718560" cy="1965127"/>
          </a:xfrm>
          <a:prstGeom prst="roundRect">
            <a:avLst>
              <a:gd name="adj" fmla="val 744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4928354"/>
            <a:ext cx="121920" cy="19651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68440" y="5172194"/>
            <a:ext cx="31394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Context-Blind Reminders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568440" y="5966936"/>
            <a:ext cx="313944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alerts, poor timing, no understanding of user activity.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233160" y="7133511"/>
            <a:ext cx="765048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Knowledge stored but rarely utilized when most beneficial.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851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Current Solutions: Gaps in Recall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96233"/>
            <a:ext cx="7556421" cy="2976801"/>
          </a:xfrm>
          <a:prstGeom prst="roundRect">
            <a:avLst>
              <a:gd name="adj" fmla="val 1143"/>
            </a:avLst>
          </a:prstGeom>
          <a:solidFill>
            <a:srgbClr val="EAE8F3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3196233"/>
            <a:ext cx="3778210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3423047"/>
            <a:ext cx="2926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Notes &amp; To-Do Lists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913465"/>
            <a:ext cx="2984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 manual search; lack proactive recall.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572000" y="3196233"/>
            <a:ext cx="3778210" cy="166985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3196233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0" name="Text 7"/>
          <p:cNvSpPr/>
          <p:nvPr/>
        </p:nvSpPr>
        <p:spPr>
          <a:xfrm>
            <a:off x="5138976" y="3423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Basic Reminders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138976" y="3913465"/>
            <a:ext cx="2984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Time-based, not context-aware; often irrelevant.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4288512" y="3747611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197" y="3889296"/>
            <a:ext cx="283488" cy="283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3790" y="4866084"/>
            <a:ext cx="7556421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4866084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6" name="Text 12"/>
          <p:cNvSpPr/>
          <p:nvPr/>
        </p:nvSpPr>
        <p:spPr>
          <a:xfrm>
            <a:off x="1020604" y="5092898"/>
            <a:ext cx="28538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 AI Assistants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020604" y="5583317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semantic understanding; don't explain utility.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793790" y="64281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tools miss the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"when"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"why"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memory recall.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273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Solution: Intelligent Memory Augmentation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50450"/>
            <a:ext cx="3664744" cy="2024182"/>
          </a:xfrm>
          <a:prstGeom prst="roundRect">
            <a:avLst>
              <a:gd name="adj" fmla="val 26894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877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Storage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367683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Memories stored by meaning, not keywords.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650450"/>
            <a:ext cx="3664863" cy="2024182"/>
          </a:xfrm>
          <a:prstGeom prst="roundRect">
            <a:avLst>
              <a:gd name="adj" fmla="val 26894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877264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Contextual Understanding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722013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understands user's current situation.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01446"/>
            <a:ext cx="7556421" cy="1306949"/>
          </a:xfrm>
          <a:prstGeom prst="roundRect">
            <a:avLst>
              <a:gd name="adj" fmla="val 41653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282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Proactive Recall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1867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suggests relevant memories when useful.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33951" y="6718697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decides WHEN a memory is useful—not just WHAT it contains.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6463546"/>
            <a:ext cx="30480" cy="873204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10058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Flow: Seamless Integration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25" y="201822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4546" y="322495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Suggest Memories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22617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Match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07" y="322617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Provide Context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3493" y="322617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Store</a:t>
            </a:r>
            <a:endParaRPr lang="en-US" sz="13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22617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Save Memory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793790" y="7010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prioritizes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accuracy, timing, and relevance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effective knowledge delivery.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2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3259812"/>
            <a:ext cx="9633347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 Awareness: MVP Approach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070" y="4569023"/>
            <a:ext cx="4235529" cy="1924645"/>
          </a:xfrm>
          <a:prstGeom prst="roundRect">
            <a:avLst>
              <a:gd name="adj" fmla="val 7602"/>
            </a:avLst>
          </a:prstGeom>
          <a:solidFill>
            <a:srgbClr val="FBFA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70" y="4538543"/>
            <a:ext cx="4235529" cy="1219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199" y="4248388"/>
            <a:ext cx="641271" cy="641271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7604" y="4440674"/>
            <a:ext cx="256461" cy="25646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92267" y="5103376"/>
            <a:ext cx="2685097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Simulated Location</a:t>
            </a:r>
            <a:endParaRPr lang="en-US" sz="2100" dirty="0"/>
          </a:p>
        </p:txBody>
      </p:sp>
      <p:sp>
        <p:nvSpPr>
          <p:cNvPr id="9" name="Text 3"/>
          <p:cNvSpPr/>
          <p:nvPr/>
        </p:nvSpPr>
        <p:spPr>
          <a:xfrm>
            <a:off x="992267" y="5565577"/>
            <a:ext cx="3747135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E.g., Bookstore, Office, Home for web-based MVP.</a:t>
            </a:r>
            <a:endParaRPr lang="en-US" sz="1650" dirty="0"/>
          </a:p>
        </p:txBody>
      </p:sp>
      <p:sp>
        <p:nvSpPr>
          <p:cNvPr id="10" name="Shape 4"/>
          <p:cNvSpPr/>
          <p:nvPr/>
        </p:nvSpPr>
        <p:spPr>
          <a:xfrm>
            <a:off x="5197316" y="4569023"/>
            <a:ext cx="4235648" cy="1924645"/>
          </a:xfrm>
          <a:prstGeom prst="roundRect">
            <a:avLst>
              <a:gd name="adj" fmla="val 7602"/>
            </a:avLst>
          </a:prstGeom>
          <a:solidFill>
            <a:srgbClr val="FBFAFF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316" y="4538543"/>
            <a:ext cx="4235648" cy="12192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446" y="4248388"/>
            <a:ext cx="641271" cy="641271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6851" y="4440674"/>
            <a:ext cx="256461" cy="25646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441513" y="5103376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Current Activity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5441513" y="5565577"/>
            <a:ext cx="3747254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E.g., Studying, Shopping, Working selected by user.</a:t>
            </a:r>
            <a:endParaRPr lang="en-US" sz="1650" dirty="0"/>
          </a:p>
        </p:txBody>
      </p:sp>
      <p:sp>
        <p:nvSpPr>
          <p:cNvPr id="16" name="Shape 7"/>
          <p:cNvSpPr/>
          <p:nvPr/>
        </p:nvSpPr>
        <p:spPr>
          <a:xfrm>
            <a:off x="9646682" y="4569023"/>
            <a:ext cx="4235648" cy="1924645"/>
          </a:xfrm>
          <a:prstGeom prst="roundRect">
            <a:avLst>
              <a:gd name="adj" fmla="val 7602"/>
            </a:avLst>
          </a:prstGeom>
          <a:solidFill>
            <a:srgbClr val="FBFAFF"/>
          </a:solidFill>
          <a:ln/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682" y="4538543"/>
            <a:ext cx="4235648" cy="121920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43811" y="4248388"/>
            <a:ext cx="641271" cy="641271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636216" y="4440674"/>
            <a:ext cx="256461" cy="256461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9890879" y="5103376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 of Day</a:t>
            </a:r>
            <a:endParaRPr lang="en-US" sz="2100" dirty="0"/>
          </a:p>
        </p:txBody>
      </p:sp>
      <p:sp>
        <p:nvSpPr>
          <p:cNvPr id="21" name="Text 9"/>
          <p:cNvSpPr/>
          <p:nvPr/>
        </p:nvSpPr>
        <p:spPr>
          <a:xfrm>
            <a:off x="9890879" y="5565577"/>
            <a:ext cx="3747254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into context for nuanced recall.</a:t>
            </a:r>
            <a:endParaRPr lang="en-US" sz="1650" dirty="0"/>
          </a:p>
        </p:txBody>
      </p:sp>
      <p:sp>
        <p:nvSpPr>
          <p:cNvPr id="22" name="Shape 10"/>
          <p:cNvSpPr/>
          <p:nvPr/>
        </p:nvSpPr>
        <p:spPr>
          <a:xfrm>
            <a:off x="748070" y="6734056"/>
            <a:ext cx="13134261" cy="908090"/>
          </a:xfrm>
          <a:prstGeom prst="roundRect">
            <a:avLst>
              <a:gd name="adj" fmla="val 3531"/>
            </a:avLst>
          </a:prstGeom>
          <a:solidFill>
            <a:srgbClr val="C3C2F0"/>
          </a:solidFill>
          <a:ln/>
        </p:spPr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1787" y="7065526"/>
            <a:ext cx="267176" cy="213717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42680" y="7001113"/>
            <a:ext cx="1222593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Web-based MVP for privacy-friendly demonstration and evaluation. No background tracking.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0824" y="394692"/>
            <a:ext cx="6409968" cy="44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 the Hood: Technology Stack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444" y="1224439"/>
            <a:ext cx="2941320" cy="172045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421" y="1224439"/>
            <a:ext cx="2941320" cy="172045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398" y="1224439"/>
            <a:ext cx="2941320" cy="1720453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444" y="3059549"/>
            <a:ext cx="9053393" cy="1720453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824" y="5036225"/>
            <a:ext cx="4534257" cy="57340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924175" y="5752981"/>
            <a:ext cx="1792129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Base44 / Lovable</a:t>
            </a:r>
            <a:endParaRPr lang="en-US" sz="1400" dirty="0"/>
          </a:p>
        </p:txBody>
      </p:sp>
      <p:sp>
        <p:nvSpPr>
          <p:cNvPr id="9" name="Text 2"/>
          <p:cNvSpPr/>
          <p:nvPr/>
        </p:nvSpPr>
        <p:spPr>
          <a:xfrm>
            <a:off x="2924175" y="6062901"/>
            <a:ext cx="424755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app development framework.</a:t>
            </a:r>
            <a:endParaRPr lang="en-US" sz="1100" dirty="0"/>
          </a:p>
        </p:txBody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81" y="5036225"/>
            <a:ext cx="4534376" cy="57340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458432" y="5752981"/>
            <a:ext cx="2067044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Embeddings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7458432" y="6062901"/>
            <a:ext cx="424767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Meaning-based retrieval for deep context.</a:t>
            </a:r>
            <a:endParaRPr lang="en-US" sz="11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0824" y="6435566"/>
            <a:ext cx="4534257" cy="57340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2924175" y="7152323"/>
            <a:ext cx="1792129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 Application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2924175" y="7462242"/>
            <a:ext cx="424755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Browser-based, intuitive user interface.</a:t>
            </a:r>
            <a:endParaRPr lang="en-US" sz="11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081" y="6435566"/>
            <a:ext cx="4534376" cy="57340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458432" y="7152323"/>
            <a:ext cx="1792129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Storage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7458432" y="7462242"/>
            <a:ext cx="424767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storage for memory records.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4702" y="429697"/>
            <a:ext cx="7250549" cy="488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 &amp; Scope: Real-World Impact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374702" y="1308378"/>
            <a:ext cx="4508302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Users &amp; Market Need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2374702" y="1855113"/>
            <a:ext cx="4749879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&amp; Learners: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Enhanced revision &amp; recall.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4702" y="2159675"/>
            <a:ext cx="4749879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Knowledge Workers: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Improved productivity &amp; insights.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4702" y="2464237"/>
            <a:ext cx="4749879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Researchers &amp; Professionals: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Streamlined information access.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4702" y="3104555"/>
            <a:ext cx="4749879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Growing demand for Personal Knowledge Management (PKM) and AI productivity tools.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201" y="1327904"/>
            <a:ext cx="4749879" cy="47498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13201" y="6253520"/>
            <a:ext cx="312431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Scope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7513201" y="6800255"/>
            <a:ext cx="4749879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and demo-ready MVP. Built for scalability: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13201" y="7190661"/>
            <a:ext cx="4749879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mobile integration.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13201" y="7495222"/>
            <a:ext cx="4749879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context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7307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Advantages &amp; Applications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54468" y="2952274"/>
            <a:ext cx="35781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Reduced Cognitive Load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42692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handles recall, freeing up mental resources.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585" y="3845481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513290"/>
            <a:ext cx="40847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Improved Knowledge Reuse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003709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Relevant insights resurface when needed.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8797" y="3418403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269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Explainable AI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759643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transparently shows recall logic.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041" y="4536400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6025277"/>
            <a:ext cx="42355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Shopping Recommendations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597628" y="6515695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Context-aware suggestions.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18797" y="5654397"/>
            <a:ext cx="318968" cy="3189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051566" y="5586293"/>
            <a:ext cx="2981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Learning &amp; Revision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6076712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study material recall.</a:t>
            </a:r>
            <a:endParaRPr lang="en-US" sz="17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04585" y="5227320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943" y="1055489"/>
            <a:ext cx="7334012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Vision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09943" y="2011561"/>
            <a:ext cx="826889" cy="1240274"/>
          </a:xfrm>
          <a:prstGeom prst="roundRect">
            <a:avLst>
              <a:gd name="adj" fmla="val 360012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8308" y="2476619"/>
            <a:ext cx="310039" cy="3100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43524" y="2218253"/>
            <a:ext cx="396204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AI-Powered Contextual Recall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243524" y="2665095"/>
            <a:ext cx="66633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Moves beyond traditional note-taking.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209943" y="3458528"/>
            <a:ext cx="826889" cy="1240274"/>
          </a:xfrm>
          <a:prstGeom prst="roundRect">
            <a:avLst>
              <a:gd name="adj" fmla="val 360012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8308" y="3923586"/>
            <a:ext cx="310039" cy="3100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43524" y="3665220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Enhancements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243524" y="4112062"/>
            <a:ext cx="66633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context, mobile notifications, wearable integration.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209943" y="4905494"/>
            <a:ext cx="826889" cy="1240274"/>
          </a:xfrm>
          <a:prstGeom prst="roundRect">
            <a:avLst>
              <a:gd name="adj" fmla="val 360012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8308" y="5370552"/>
            <a:ext cx="310039" cy="3100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43524" y="5112187"/>
            <a:ext cx="3180040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Cognitive Collaboration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243524" y="5559028"/>
            <a:ext cx="6663333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step towards human-AI partnership.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519982" y="6610826"/>
            <a:ext cx="7386876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represents a step toward human–AI cognitive collaboration.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209943" y="6378297"/>
            <a:ext cx="22860" cy="795695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2026-01-08T04:12:39Z</dcterms:created>
  <dcterms:modified xsi:type="dcterms:W3CDTF">2026-01-08T04:12:39Z</dcterms:modified>
</cp:coreProperties>
</file>